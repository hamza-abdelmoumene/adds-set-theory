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eorgia Pro Condensed" charset="1" panose="02040506050405020303"/>
      <p:regular r:id="rId15"/>
    </p:embeddedFont>
    <p:embeddedFont>
      <p:font typeface="Helvetica World Bold" charset="1" panose="020B0800040000020004"/>
      <p:regular r:id="rId16"/>
    </p:embeddedFont>
    <p:embeddedFont>
      <p:font typeface="Helvetica World" charset="1" panose="020B05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23597" y="1932261"/>
            <a:ext cx="16083328" cy="371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01"/>
              </a:lnSpc>
            </a:pPr>
            <a:r>
              <a:rPr lang="en-US" sz="14301" spc="-500" strike="noStrike" u="none">
                <a:solidFill>
                  <a:srgbClr val="2B3A6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ADDS Lab: Managing Linguistic Structures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3843" y="6440488"/>
            <a:ext cx="10302835" cy="125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2B3A6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BY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2B3A6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TALBI Baghdad &amp; ABDELMOUMENE Hamza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425" y="9677400"/>
            <a:ext cx="5436264" cy="4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sz="2999" spc="-44" strike="noStrike" u="none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ESI Algiers, May 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8640" y="666750"/>
            <a:ext cx="16982610" cy="8893175"/>
            <a:chOff x="0" y="0"/>
            <a:chExt cx="4472786" cy="23422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72786" cy="2342235"/>
            </a:xfrm>
            <a:custGeom>
              <a:avLst/>
              <a:gdLst/>
              <a:ahLst/>
              <a:cxnLst/>
              <a:rect r="r" b="b" t="t" l="l"/>
              <a:pathLst>
                <a:path h="2342235" w="4472786">
                  <a:moveTo>
                    <a:pt x="20514" y="0"/>
                  </a:moveTo>
                  <a:lnTo>
                    <a:pt x="4452272" y="0"/>
                  </a:lnTo>
                  <a:cubicBezTo>
                    <a:pt x="4457713" y="0"/>
                    <a:pt x="4462931" y="2161"/>
                    <a:pt x="4466778" y="6008"/>
                  </a:cubicBezTo>
                  <a:cubicBezTo>
                    <a:pt x="4470625" y="9856"/>
                    <a:pt x="4472786" y="15074"/>
                    <a:pt x="4472786" y="20514"/>
                  </a:cubicBezTo>
                  <a:lnTo>
                    <a:pt x="4472786" y="2321721"/>
                  </a:lnTo>
                  <a:cubicBezTo>
                    <a:pt x="4472786" y="2327162"/>
                    <a:pt x="4470625" y="2332380"/>
                    <a:pt x="4466778" y="2336227"/>
                  </a:cubicBezTo>
                  <a:cubicBezTo>
                    <a:pt x="4462931" y="2340074"/>
                    <a:pt x="4457713" y="2342235"/>
                    <a:pt x="4452272" y="2342235"/>
                  </a:cubicBezTo>
                  <a:lnTo>
                    <a:pt x="20514" y="2342235"/>
                  </a:lnTo>
                  <a:cubicBezTo>
                    <a:pt x="15074" y="2342235"/>
                    <a:pt x="9856" y="2340074"/>
                    <a:pt x="6009" y="2336227"/>
                  </a:cubicBezTo>
                  <a:cubicBezTo>
                    <a:pt x="2161" y="2332380"/>
                    <a:pt x="0" y="2327162"/>
                    <a:pt x="0" y="2321721"/>
                  </a:cubicBezTo>
                  <a:lnTo>
                    <a:pt x="0" y="20514"/>
                  </a:lnTo>
                  <a:cubicBezTo>
                    <a:pt x="0" y="15074"/>
                    <a:pt x="2161" y="9856"/>
                    <a:pt x="6009" y="6009"/>
                  </a:cubicBezTo>
                  <a:cubicBezTo>
                    <a:pt x="9856" y="2161"/>
                    <a:pt x="15074" y="0"/>
                    <a:pt x="20514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72786" cy="238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933575"/>
            <a:ext cx="14832524" cy="5405758"/>
            <a:chOff x="0" y="0"/>
            <a:chExt cx="19776699" cy="72076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2700" y="-95250"/>
              <a:ext cx="17259300" cy="1911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699"/>
                </a:lnSpc>
              </a:pPr>
              <a:r>
                <a:rPr lang="en-US" sz="8999" spc="-269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Problem Statement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358452"/>
              <a:ext cx="17259300" cy="708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47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Efficient Text File Manipulation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710222"/>
              <a:ext cx="19776699" cy="2497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039"/>
                </a:lnSpc>
              </a:pPr>
              <a:r>
                <a:rPr lang="en-US" sz="3599" spc="-53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goal is to represent and manipulate text files as mathematical sets, efficiently applying set operations (Union, Intersection and Deference) at the word, sentence, and paragraph levels for optimal performance.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90801" y="1200150"/>
            <a:ext cx="15912600" cy="7328539"/>
            <a:chOff x="0" y="0"/>
            <a:chExt cx="21216800" cy="977138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17259300" cy="1911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699"/>
                </a:lnSpc>
              </a:pPr>
              <a:r>
                <a:rPr lang="en-US" sz="8999" spc="-269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Data Structure Hierarchy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885867"/>
              <a:ext cx="17259300" cy="680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4-Level Nested Structure — Design Rationale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374307"/>
              <a:ext cx="21216800" cy="5397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 spc="-47" strike="noStrike" u="none">
                  <a:solidFill>
                    <a:srgbClr val="2B3A6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Level 1 — FileList:</a:t>
              </a:r>
              <a:r>
                <a:rPr lang="en-US" sz="3199" spc="-47" strike="noStrike" u="none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 linked list of files each cell contains the level 2 structure.</a:t>
              </a:r>
            </a:p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spc="-44" strike="noStrike" u="none">
                  <a:solidFill>
                    <a:srgbClr val="2B3A6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Level 2 — ParagraphList: </a:t>
              </a:r>
              <a:r>
                <a:rPr lang="en-US" sz="2999" spc="-44" strike="noStrike" u="none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 linked list of paragraphs each cell contains the level 3 structure.</a:t>
              </a:r>
            </a:p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 spc="-47" strike="noStrike" u="none">
                  <a:solidFill>
                    <a:srgbClr val="2B3A6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Level 3 — SentenceList:  </a:t>
              </a:r>
              <a:r>
                <a:rPr lang="en-US" sz="3199" spc="-47" strike="noStrike" u="none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linked list of sentences each cell contains the level 4 structure.</a:t>
              </a:r>
            </a:p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 spc="-47" strike="noStrike" u="none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b="true" sz="3199" spc="-47" strike="noStrike" u="none">
                  <a:solidFill>
                    <a:srgbClr val="2B3A6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evel 4 — WordBST: </a:t>
              </a:r>
              <a:r>
                <a:rPr lang="en-US" sz="3199" spc="-47" strike="noStrike" u="none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binary search tree of words each node contains a word (string).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780858"/>
            <a:ext cx="14663767" cy="5561016"/>
            <a:chOff x="0" y="0"/>
            <a:chExt cx="19551689" cy="741468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17259300" cy="1911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699"/>
                </a:lnSpc>
              </a:pPr>
              <a:r>
                <a:rPr lang="en-US" sz="8999" spc="-269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Abstract Machines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773174"/>
              <a:ext cx="17259300" cy="708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47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Hiding Raw Pointer Semantics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964645"/>
              <a:ext cx="19551689" cy="2450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039"/>
                </a:lnSpc>
              </a:pPr>
              <a:r>
                <a:rPr lang="en-US" sz="3599" spc="-53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Two abstract machines are defined using macros to manage memory safely and ensure logical operations on nodes without exposing raw pointer</a:t>
              </a:r>
            </a:p>
            <a:p>
              <a:pPr algn="just" marL="0" indent="0" lvl="0">
                <a:lnSpc>
                  <a:spcPts val="4759"/>
                </a:lnSpc>
              </a:pPr>
              <a:r>
                <a:rPr lang="en-US" sz="3399" spc="-50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semantics, enhancing code robustness and maintainability.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37846" y="3909651"/>
            <a:ext cx="13812308" cy="2467698"/>
            <a:chOff x="0" y="0"/>
            <a:chExt cx="18416411" cy="32902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18416411" cy="1982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089"/>
                </a:lnSpc>
              </a:pPr>
              <a:r>
                <a:rPr lang="en-US" sz="9299" spc="-278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System Architecture Overview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67304"/>
              <a:ext cx="18416411" cy="822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 spc="-56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Implementation Modules and Core Functionality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90700" y="1977391"/>
            <a:ext cx="14376958" cy="5400042"/>
            <a:chOff x="0" y="0"/>
            <a:chExt cx="19169278" cy="720005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17259300" cy="1911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699"/>
                </a:lnSpc>
              </a:pPr>
              <a:r>
                <a:rPr lang="en-US" sz="8999" spc="-269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Text Parsing Pipeline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700" y="3534836"/>
              <a:ext cx="17259300" cy="708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47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Building a 3-Level Nested Structure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700" y="4702600"/>
              <a:ext cx="19156578" cy="2497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039"/>
                </a:lnSpc>
              </a:pPr>
              <a:r>
                <a:rPr lang="en-US" sz="3599" spc="-53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character-by-character parser efficiently transforms text files into a structured hierarchy, accurately identifying boundaries for words, sentences, and paragraphs to ensure data integrity and accessibility.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838325"/>
            <a:ext cx="14579100" cy="5815334"/>
            <a:chOff x="0" y="0"/>
            <a:chExt cx="19438800" cy="77537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17259300" cy="1911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699"/>
                </a:lnSpc>
              </a:pPr>
              <a:r>
                <a:rPr lang="en-US" sz="8999" spc="-269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BST Balancing Strategy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12028"/>
              <a:ext cx="17259300" cy="708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47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Ensuring Optimal Tree Height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256322"/>
              <a:ext cx="19438800" cy="2497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039"/>
                </a:lnSpc>
              </a:pPr>
              <a:r>
                <a:rPr lang="en-US" sz="3599" spc="-53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Words are systematically collected through inorder traversal, sorted in a dynamic array, and the median value is inserted first, guaranteeing an optimal O(log(n)) complexity without the need for AVL rotations.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7825" y="1721486"/>
            <a:ext cx="15087100" cy="5503548"/>
            <a:chOff x="0" y="0"/>
            <a:chExt cx="20116134" cy="73380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1600" y="-95250"/>
              <a:ext cx="17259300" cy="19113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699"/>
                </a:lnSpc>
              </a:pPr>
              <a:r>
                <a:rPr lang="en-US" sz="8999" spc="-269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Memory Safety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5400" y="3646174"/>
              <a:ext cx="17259300" cy="708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47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Centralized Error Handling and Integrity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40608"/>
              <a:ext cx="20116134" cy="2497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039"/>
                </a:lnSpc>
              </a:pPr>
              <a:r>
                <a:rPr lang="en-US" sz="3599" spc="-53">
                  <a:solidFill>
                    <a:srgbClr val="2B3A6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All errors are caught in one place. The original text is always kept safe. When the program closes, memory is freed level by level — from files, down to paragraphs, sentences, and words — leaving nothing behind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3A6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9E2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37846" y="3909651"/>
            <a:ext cx="13812308" cy="2467698"/>
            <a:chOff x="0" y="0"/>
            <a:chExt cx="18416411" cy="32902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18416411" cy="1982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089"/>
                </a:lnSpc>
              </a:pPr>
              <a:r>
                <a:rPr lang="en-US" sz="9299" spc="-278">
                  <a:solidFill>
                    <a:srgbClr val="2B3A6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Thank You For Your Time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67304"/>
              <a:ext cx="18416411" cy="822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 spc="-56">
                  <a:solidFill>
                    <a:srgbClr val="5484C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Any Questions?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Présentation - ADDS Lab: Managing Linguistic Structures</dc:description>
  <dc:identifier>DAHJTOcpaWI</dc:identifier>
  <dcterms:modified xsi:type="dcterms:W3CDTF">2011-08-01T06:04:30Z</dcterms:modified>
  <cp:revision>1</cp:revision>
  <dc:title>Présentation - ADDS Lab: Managing Linguistic Structures</dc:title>
</cp:coreProperties>
</file>